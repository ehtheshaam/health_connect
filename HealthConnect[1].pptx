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6" r:id="rId9"/>
    <p:sldId id="265" r:id="rId10"/>
  </p:sldIdLst>
  <p:sldSz cx="14630400" cy="8229600"/>
  <p:notesSz cx="8229600" cy="14630400"/>
  <p:embeddedFontLst>
    <p:embeddedFont>
      <p:font typeface="Arial Black" panose="020B0604020202020204" pitchFamily="34" charset="0"/>
      <p:bold r:id="rId12"/>
    </p:embeddedFont>
    <p:embeddedFont>
      <p:font typeface="Corben" panose="020F0505020000020004" pitchFamily="34" charset="0"/>
      <p:regular r:id="rId13"/>
    </p:embeddedFont>
    <p:embeddedFont>
      <p:font typeface="Nobile" panose="02000503050000020004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F"/>
    <a:srgbClr val="F8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9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2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1.fntdata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3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jp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20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 /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1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6725" y="1614487"/>
            <a:ext cx="5670550" cy="876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1B1B27"/>
                </a:solidFill>
                <a:latin typeface="Arial Black" panose="020B0A04020102020204" pitchFamily="34" charset="0"/>
                <a:ea typeface="Corben" panose="020F0505020000020004" pitchFamily="34" charset="-122"/>
                <a:cs typeface="Athelas Regular" panose="02000503000000020003" charset="0"/>
              </a:rPr>
              <a:t>HealthConnect</a:t>
            </a:r>
            <a:r>
              <a:rPr lang="en-US" sz="5400" b="1" dirty="0">
                <a:solidFill>
                  <a:srgbClr val="1B1B27"/>
                </a:solidFill>
                <a:latin typeface="Arial Black" panose="020B0A04020102020204" pitchFamily="34" charset="0"/>
                <a:ea typeface="Corben" panose="020F0505020000020004" pitchFamily="34" charset="-122"/>
                <a:cs typeface="Didot Bold" panose="02000503000000020003" charset="0"/>
              </a:rPr>
              <a:t>:</a:t>
            </a:r>
          </a:p>
        </p:txBody>
      </p:sp>
      <p:sp>
        <p:nvSpPr>
          <p:cNvPr id="4" name="Text 1"/>
          <p:cNvSpPr/>
          <p:nvPr/>
        </p:nvSpPr>
        <p:spPr>
          <a:xfrm>
            <a:off x="793790" y="279047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1B1B27"/>
                </a:solidFill>
                <a:latin typeface="Athelas Regular" panose="02000503000000020003" charset="0"/>
                <a:ea typeface="Corben" panose="020F0505020000020004" pitchFamily="34" charset="-122"/>
                <a:cs typeface="Athelas Regular" panose="02000503000000020003" charset="0"/>
              </a:rPr>
              <a:t>Bringing Healthcare to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1B1B27"/>
                </a:solidFill>
                <a:latin typeface="Athelas Regular" panose="02000503000000020003" charset="0"/>
                <a:ea typeface="Corben" panose="020F0505020000020004" pitchFamily="34" charset="-122"/>
                <a:cs typeface="Athelas Regular" panose="02000503000000020003" charset="0"/>
              </a:rPr>
              <a:t> Rural India</a:t>
            </a:r>
          </a:p>
        </p:txBody>
      </p:sp>
      <p:sp>
        <p:nvSpPr>
          <p:cNvPr id="5" name="Text 2"/>
          <p:cNvSpPr/>
          <p:nvPr/>
        </p:nvSpPr>
        <p:spPr>
          <a:xfrm>
            <a:off x="793790" y="502765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Arial Regular" panose="020B0604020202090204" charset="0"/>
                <a:ea typeface="Nobile" panose="02000503050000020004" pitchFamily="34" charset="-122"/>
                <a:cs typeface="Arial Regular" panose="020B0604020202090204" charset="0"/>
              </a:rPr>
              <a:t>Presented by</a:t>
            </a:r>
            <a:r>
              <a:rPr lang="en-US" sz="1750" dirty="0">
                <a:solidFill>
                  <a:srgbClr val="404155"/>
                </a:solidFill>
                <a:latin typeface="Arial Regular" panose="020B0604020202090204" charset="0"/>
                <a:ea typeface="Nobile" panose="02000503050000020004" pitchFamily="34" charset="-122"/>
                <a:cs typeface="Arial Regular" panose="020B0604020202090204" charset="0"/>
              </a:rPr>
              <a:t>: </a:t>
            </a:r>
            <a:r>
              <a:rPr lang="en-US" sz="1750" dirty="0">
                <a:solidFill>
                  <a:srgbClr val="4967E9"/>
                </a:solidFill>
                <a:latin typeface="Arial Regular" panose="020B0604020202090204" charset="0"/>
                <a:ea typeface="Nobile" panose="02000503050000020004" pitchFamily="34" charset="-122"/>
                <a:cs typeface="Arial Regular" panose="020B0604020202090204" charset="0"/>
              </a:rPr>
              <a:t>Code Elites</a:t>
            </a:r>
            <a:endParaRPr lang="en-US" sz="1750" dirty="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9216" y="564570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404155"/>
                </a:solidFill>
                <a:latin typeface="Arial Regular" panose="020B0604020202090204" charset="0"/>
                <a:ea typeface="Nobile" panose="02000503050000020004" pitchFamily="34" charset="-122"/>
                <a:cs typeface="Arial Regular" panose="020B0604020202090204" charset="0"/>
              </a:rPr>
              <a:t>Dhaanish</a:t>
            </a:r>
            <a:r>
              <a:rPr lang="en-US" sz="1750" b="1" dirty="0">
                <a:solidFill>
                  <a:srgbClr val="404155"/>
                </a:solidFill>
                <a:latin typeface="Arial Regular" panose="020B0604020202090204" charset="0"/>
                <a:ea typeface="Nobile" panose="02000503050000020004" pitchFamily="34" charset="-122"/>
                <a:cs typeface="Arial Regular" panose="020B0604020202090204" charset="0"/>
              </a:rPr>
              <a:t> Ahmed College of Engineering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rial Regular" panose="020B0604020202090204" charset="0"/>
                <a:ea typeface="Nobile" panose="02000503050000020004" pitchFamily="34" charset="-122"/>
                <a:cs typeface="Arial Regular" panose="020B0604020202090204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rgbClr val="D1DCF0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618" y="1230284"/>
            <a:ext cx="6010910" cy="11776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GB" sz="4000" dirty="0">
                <a:latin typeface="Arial Black" panose="020B0A04020102020204" pitchFamily="34" charset="0"/>
              </a:rPr>
              <a:t>The Problem</a:t>
            </a:r>
            <a:endParaRPr lang="en-US" sz="3600" dirty="0">
              <a:solidFill>
                <a:srgbClr val="1B1B27"/>
              </a:solidFill>
              <a:latin typeface="Arial Black" panose="020B0A04020102020204" pitchFamily="34" charset="0"/>
              <a:ea typeface="Corben" panose="020F0505020000020004" pitchFamily="34" charset="-122"/>
              <a:cs typeface="Athelas Regular" panose="020005030000000200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78434" y="2414488"/>
            <a:ext cx="6487644" cy="422780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rtlCol="0" anchor="t"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Villages lack access to nearby hospitals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Transport is costly and time-consuming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Lack of timely diagnosis worsens conditions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Low awareness about preventive healthcare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Poor network connectivity in rural areas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347335" y="337756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12082780" y="7185660"/>
            <a:ext cx="2547620" cy="1043940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12732385" y="7766050"/>
            <a:ext cx="1898015" cy="46355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0">
            <a:extLst>
              <a:ext uri="{FF2B5EF4-FFF2-40B4-BE49-F238E27FC236}">
                <a16:creationId xmlns:a16="http://schemas.microsoft.com/office/drawing/2014/main" id="{43570149-BF87-0AE5-DC67-B695F0A45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907" y="-132497"/>
            <a:ext cx="2546985" cy="2546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027" y="984221"/>
            <a:ext cx="7728704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GB" sz="4000" dirty="0">
                <a:latin typeface="Arial Black" panose="020B0A04020102020204" pitchFamily="34" charset="0"/>
              </a:rPr>
              <a:t>The Solution</a:t>
            </a:r>
            <a:r>
              <a:rPr lang="en-GB" sz="3600" dirty="0">
                <a:latin typeface="Arial Black" panose="020B0A04020102020204" pitchFamily="34" charset="0"/>
              </a:rPr>
              <a:t>: </a:t>
            </a:r>
            <a:r>
              <a:rPr lang="en-GB" sz="3600" dirty="0">
                <a:solidFill>
                  <a:schemeClr val="accent1"/>
                </a:solidFill>
                <a:latin typeface="Arial Black" panose="020B0A04020102020204" pitchFamily="34" charset="0"/>
              </a:rPr>
              <a:t>HEALTHCONNECT</a:t>
            </a:r>
            <a:endParaRPr lang="en-US" sz="3550" dirty="0">
              <a:solidFill>
                <a:schemeClr val="accent1"/>
              </a:solidFill>
              <a:latin typeface="Arial Black" panose="020B0A04020102020204" pitchFamily="34" charset="0"/>
              <a:ea typeface="Corben" panose="020F0505020000020004" pitchFamily="34" charset="-122"/>
              <a:cs typeface="Athelas Regular" panose="020005030000000200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5027" y="1762508"/>
            <a:ext cx="14285739" cy="4919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4967E9"/>
                </a:solidFill>
                <a:latin typeface="Athelas Regular" panose="02000503000000020003" charset="0"/>
                <a:ea typeface="Nobile" panose="02000503050000020004" pitchFamily="34" charset="-122"/>
                <a:cs typeface="Athelas Regular" panose="02000503000000020003" charset="0"/>
              </a:rPr>
              <a:t>HealthConnect</a:t>
            </a:r>
            <a:r>
              <a:rPr lang="en-US" sz="2800" dirty="0">
                <a:solidFill>
                  <a:srgbClr val="404155"/>
                </a:solidFill>
                <a:latin typeface="Athelas Regular" panose="02000503000000020003" charset="0"/>
                <a:ea typeface="Nobile" panose="02000503050000020004" pitchFamily="34" charset="-122"/>
                <a:cs typeface="Athelas Regular" panose="02000503000000020003" charset="0"/>
              </a:rPr>
              <a:t> is a mobile application designed to bridge the healthcare gap in rural India</a:t>
            </a:r>
          </a:p>
        </p:txBody>
      </p:sp>
      <p:sp>
        <p:nvSpPr>
          <p:cNvPr id="13" name="Rectangles 12"/>
          <p:cNvSpPr/>
          <p:nvPr/>
        </p:nvSpPr>
        <p:spPr>
          <a:xfrm>
            <a:off x="12782550" y="7788910"/>
            <a:ext cx="1848485" cy="365125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CA0C809-AA73-19C5-F597-F71BA259E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133" y="2717186"/>
            <a:ext cx="8548602" cy="4280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 designed for rural communities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 access to doctors through video &amp; chat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medical records stored securely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 tips in simple, local language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Works in weak or unstable internet situations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43B74B-77AC-F060-5A08-1756A824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45" b="24523"/>
          <a:stretch>
            <a:fillRect/>
          </a:stretch>
        </p:blipFill>
        <p:spPr>
          <a:xfrm>
            <a:off x="10387920" y="2455897"/>
            <a:ext cx="3348937" cy="5057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4170" y="2978536"/>
            <a:ext cx="7079694" cy="3863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en-GB" sz="3600" b="1" dirty="0"/>
              <a:t>  </a:t>
            </a:r>
            <a:endParaRPr lang="en-GB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407" y="-103510"/>
            <a:ext cx="2395108" cy="2395108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12849860" y="7697470"/>
            <a:ext cx="1711325" cy="479425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BB95BC-6B40-BB02-A162-FF4BD96CDB04}"/>
              </a:ext>
            </a:extLst>
          </p:cNvPr>
          <p:cNvSpPr txBox="1"/>
          <p:nvPr/>
        </p:nvSpPr>
        <p:spPr>
          <a:xfrm>
            <a:off x="776264" y="864799"/>
            <a:ext cx="512354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400" b="1" dirty="0">
                <a:latin typeface="Arial Black" panose="020B0A04020102020204" pitchFamily="34" charset="0"/>
              </a:rPr>
              <a:t>How It Works</a:t>
            </a:r>
          </a:p>
          <a:p>
            <a:endParaRPr lang="en-GB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2589285-C457-6886-FE67-553110889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91" y="2610531"/>
            <a:ext cx="7079694" cy="364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6028E22-232E-0357-82ED-DFD8E2E559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3"/>
          <a:stretch>
            <a:fillRect/>
          </a:stretch>
        </p:blipFill>
        <p:spPr bwMode="auto">
          <a:xfrm>
            <a:off x="801340" y="2017238"/>
            <a:ext cx="6513860" cy="623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D662CD-191F-77BE-F2BA-BEE4F164E12F}"/>
              </a:ext>
            </a:extLst>
          </p:cNvPr>
          <p:cNvSpPr txBox="1"/>
          <p:nvPr/>
        </p:nvSpPr>
        <p:spPr>
          <a:xfrm>
            <a:off x="13548961" y="5979886"/>
            <a:ext cx="1081439" cy="369332"/>
          </a:xfrm>
          <a:prstGeom prst="rect">
            <a:avLst/>
          </a:prstGeom>
          <a:solidFill>
            <a:srgbClr val="F8F8FF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079DDF-B6C6-50EB-0149-7836772E3E1C}"/>
              </a:ext>
            </a:extLst>
          </p:cNvPr>
          <p:cNvSpPr txBox="1"/>
          <p:nvPr/>
        </p:nvSpPr>
        <p:spPr>
          <a:xfrm>
            <a:off x="5809280" y="7807563"/>
            <a:ext cx="1356835" cy="369332"/>
          </a:xfrm>
          <a:prstGeom prst="rect">
            <a:avLst/>
          </a:prstGeom>
          <a:solidFill>
            <a:srgbClr val="F8F8FF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139" y="1178673"/>
            <a:ext cx="747498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GB" sz="4400" dirty="0">
                <a:latin typeface="Arial Black" panose="020B0A04020102020204" pitchFamily="34" charset="0"/>
              </a:rPr>
              <a:t>Unique Features</a:t>
            </a:r>
            <a:endParaRPr lang="en-US" sz="4000" dirty="0">
              <a:solidFill>
                <a:srgbClr val="1B1B27"/>
              </a:solidFill>
              <a:latin typeface="Arial Black" panose="020B0A04020102020204" pitchFamily="34" charset="0"/>
              <a:ea typeface="Corben" panose="020F0505020000020004" pitchFamily="34" charset="-122"/>
              <a:cs typeface="Athelas Regular" panose="02000503000000020003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1087" y="-293488"/>
            <a:ext cx="2859314" cy="2384432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12887960" y="7766050"/>
            <a:ext cx="1627505" cy="342265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AB98385-926F-1117-0922-B4B198BC1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39" y="2618302"/>
            <a:ext cx="12700306" cy="4007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800" dirty="0"/>
              <a:t>  Minimal data usage, runs on poor connections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Local language support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Community health worker integration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Low-bandwidth optimization (2G/3G friendly</a:t>
            </a:r>
            <a:r>
              <a:rPr lang="en-US" altLang="en-US" sz="2800" dirty="0"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 descr="A screenshot of a phone&#10;&#10;AI-generated content may be incorrect.">
            <a:extLst>
              <a:ext uri="{FF2B5EF4-FFF2-40B4-BE49-F238E27FC236}">
                <a16:creationId xmlns:a16="http://schemas.microsoft.com/office/drawing/2014/main" id="{F91CEB94-D6B5-4414-2444-F5055F04D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150" y="3311732"/>
            <a:ext cx="1659752" cy="3233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B83440-13EE-ED9B-182D-A340B78EA4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67"/>
          <a:stretch>
            <a:fillRect/>
          </a:stretch>
        </p:blipFill>
        <p:spPr>
          <a:xfrm>
            <a:off x="12090954" y="4532521"/>
            <a:ext cx="1752006" cy="3233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AEDDF3-BC47-5602-0B6F-5D115A4FA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437" y="2368843"/>
            <a:ext cx="1879682" cy="3286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9344DC2-996E-154D-DECB-230936476E24}"/>
              </a:ext>
            </a:extLst>
          </p:cNvPr>
          <p:cNvSpPr txBox="1"/>
          <p:nvPr/>
        </p:nvSpPr>
        <p:spPr>
          <a:xfrm>
            <a:off x="799139" y="6252595"/>
            <a:ext cx="9602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800" dirty="0"/>
              <a:t>  AI-based early detection, doorstep medicine delivery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3943" y="2111102"/>
            <a:ext cx="7729192" cy="50990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GB" sz="2800" dirty="0"/>
              <a:t>React Native                →     Android &amp; iOS app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Node.js + Express.js   →     Backend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MongoDB                    →     Store patient records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Twilio                            →     Video calls &amp; SMS</a:t>
            </a:r>
          </a:p>
          <a:p>
            <a:pPr>
              <a:lnSpc>
                <a:spcPct val="200000"/>
              </a:lnSpc>
            </a:pPr>
            <a:r>
              <a:rPr lang="en-GB" sz="2800" dirty="0" err="1"/>
              <a:t>Razorpay</a:t>
            </a:r>
            <a:r>
              <a:rPr lang="en-GB" sz="2800" dirty="0"/>
              <a:t>                      →     Secure payments</a:t>
            </a:r>
          </a:p>
        </p:txBody>
      </p:sp>
      <p:sp>
        <p:nvSpPr>
          <p:cNvPr id="8" name="Rectangles 7"/>
          <p:cNvSpPr/>
          <p:nvPr/>
        </p:nvSpPr>
        <p:spPr>
          <a:xfrm>
            <a:off x="12649835" y="7743190"/>
            <a:ext cx="1911350" cy="410845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30B3F-0346-175B-3493-9FBC8AC21E12}"/>
              </a:ext>
            </a:extLst>
          </p:cNvPr>
          <p:cNvSpPr txBox="1"/>
          <p:nvPr/>
        </p:nvSpPr>
        <p:spPr>
          <a:xfrm>
            <a:off x="1392484" y="1059792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latin typeface="Arial Black" panose="020B0A04020102020204" pitchFamily="34" charset="0"/>
              </a:rPr>
              <a:t>Technology Stack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0AB61DC-8D6D-83EB-AD11-C8BD78A29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806" y="2173131"/>
            <a:ext cx="902921" cy="90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0AB2A392-922F-FC2F-4795-5EF5B3D14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375" y="4853565"/>
            <a:ext cx="942849" cy="942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FAE0E017-7C07-5BA7-A7B6-052135CA4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806" y="5661153"/>
            <a:ext cx="954347" cy="95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3D718500-0330-3661-0300-178A5D115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484" y="3031749"/>
            <a:ext cx="1062633" cy="1062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309DFC38-2074-4C71-9E58-3F8055DA8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472341" y="3999049"/>
            <a:ext cx="902921" cy="90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C126814D-513A-53A6-1157-F8437810F7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6506" y="-716520"/>
            <a:ext cx="3422820" cy="3422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2075" y="1975325"/>
            <a:ext cx="4866781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GB" sz="3600" b="1" dirty="0"/>
              <a:t>Registration &amp; Login</a:t>
            </a:r>
            <a:endParaRPr lang="en-US" sz="3550" b="1" dirty="0">
              <a:solidFill>
                <a:srgbClr val="1B1B27"/>
              </a:solidFill>
              <a:ea typeface="Corben" panose="020F0505020000020004" pitchFamily="34" charset="-122"/>
              <a:cs typeface="Athelas Regular" panose="02000503000000020003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2666980" y="7674610"/>
            <a:ext cx="1894205" cy="410845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15A21-5283-6100-7838-BC22632E6A12}"/>
              </a:ext>
            </a:extLst>
          </p:cNvPr>
          <p:cNvSpPr txBox="1"/>
          <p:nvPr/>
        </p:nvSpPr>
        <p:spPr>
          <a:xfrm>
            <a:off x="1168037" y="1014480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App Features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AF5EDE7-F57A-5620-61FA-DEE39C0AF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075" y="2583084"/>
            <a:ext cx="486678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onboarding for villagers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Multiple local languages supporte</a:t>
            </a:r>
            <a:r>
              <a:rPr lang="en-US" altLang="en-US" sz="2400" dirty="0"/>
              <a:t>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92C48A-BC7C-D2B6-0371-3DEE33A36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28" y="3697569"/>
            <a:ext cx="3080617" cy="43878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3E82E3-89BC-354D-42BA-61033425F3DB}"/>
              </a:ext>
            </a:extLst>
          </p:cNvPr>
          <p:cNvSpPr txBox="1"/>
          <p:nvPr/>
        </p:nvSpPr>
        <p:spPr>
          <a:xfrm>
            <a:off x="8483237" y="193675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 </a:t>
            </a:r>
            <a:r>
              <a:rPr lang="en-GB" sz="3600" b="1" dirty="0"/>
              <a:t>Home Page</a:t>
            </a:r>
            <a:endParaRPr lang="en-GB" sz="3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BBC55-631F-F9E7-56D4-93797A4DDE85}"/>
              </a:ext>
            </a:extLst>
          </p:cNvPr>
          <p:cNvSpPr txBox="1"/>
          <p:nvPr/>
        </p:nvSpPr>
        <p:spPr>
          <a:xfrm>
            <a:off x="8650515" y="2542301"/>
            <a:ext cx="8273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 Easy navigation for user 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 Quick access: Doctors, Records, Health Tips</a:t>
            </a:r>
          </a:p>
        </p:txBody>
      </p:sp>
      <p:pic>
        <p:nvPicPr>
          <p:cNvPr id="19" name="Picture 18" descr="A screenshot of a phone&#10;&#10;AI-generated content may be incorrect.">
            <a:extLst>
              <a:ext uri="{FF2B5EF4-FFF2-40B4-BE49-F238E27FC236}">
                <a16:creationId xmlns:a16="http://schemas.microsoft.com/office/drawing/2014/main" id="{8F073F94-919E-53B9-ED6C-44DA54C52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030" y="3697569"/>
            <a:ext cx="3080617" cy="43878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54C4C3-9520-1BEB-BEE0-482E7F826668}"/>
              </a:ext>
            </a:extLst>
          </p:cNvPr>
          <p:cNvCxnSpPr>
            <a:cxnSpLocks/>
          </p:cNvCxnSpPr>
          <p:nvPr/>
        </p:nvCxnSpPr>
        <p:spPr>
          <a:xfrm>
            <a:off x="7315200" y="2209800"/>
            <a:ext cx="0" cy="5464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74B40A-7036-1263-791B-FEC76C4CCA2E}"/>
              </a:ext>
            </a:extLst>
          </p:cNvPr>
          <p:cNvSpPr txBox="1"/>
          <p:nvPr/>
        </p:nvSpPr>
        <p:spPr>
          <a:xfrm>
            <a:off x="11669486" y="6081486"/>
            <a:ext cx="2960914" cy="2148114"/>
          </a:xfrm>
          <a:prstGeom prst="rect">
            <a:avLst/>
          </a:prstGeom>
          <a:solidFill>
            <a:srgbClr val="F9F9FF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0C66B3-631A-8086-473C-9E1E78DE836B}"/>
              </a:ext>
            </a:extLst>
          </p:cNvPr>
          <p:cNvSpPr txBox="1"/>
          <p:nvPr/>
        </p:nvSpPr>
        <p:spPr>
          <a:xfrm>
            <a:off x="4596537" y="1614026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8F05DFB-3747-708F-4FAD-3F1535B3272A}"/>
              </a:ext>
            </a:extLst>
          </p:cNvPr>
          <p:cNvSpPr/>
          <p:nvPr/>
        </p:nvSpPr>
        <p:spPr>
          <a:xfrm>
            <a:off x="1509484" y="1616362"/>
            <a:ext cx="4866781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GB" sz="4000" b="1" dirty="0"/>
              <a:t>Doctor Consultation</a:t>
            </a:r>
            <a:endParaRPr lang="en-US" sz="3600" b="1" dirty="0">
              <a:solidFill>
                <a:srgbClr val="1B1B27"/>
              </a:solidFill>
              <a:ea typeface="Corben" panose="020F0505020000020004" pitchFamily="34" charset="-122"/>
              <a:cs typeface="Athelas Regular" panose="02000503000000020003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D5919FF-0A1B-2EE9-02E7-1F4B5B289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484" y="2183338"/>
            <a:ext cx="50074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 video calls with doctors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&amp; private chat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prescription given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1878224B-9314-3685-2EE5-7C2D919CD033}"/>
              </a:ext>
            </a:extLst>
          </p:cNvPr>
          <p:cNvSpPr/>
          <p:nvPr/>
        </p:nvSpPr>
        <p:spPr>
          <a:xfrm>
            <a:off x="8254135" y="1614026"/>
            <a:ext cx="4866781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GB" sz="4000" b="1" dirty="0"/>
              <a:t> Health Records</a:t>
            </a:r>
            <a:endParaRPr lang="en-US" sz="3600" b="1" dirty="0">
              <a:solidFill>
                <a:srgbClr val="1B1B27"/>
              </a:solidFill>
              <a:ea typeface="Corben" panose="020F0505020000020004" pitchFamily="34" charset="-122"/>
              <a:cs typeface="Athelas Regular" panose="02000503000000020003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CCDC3A9-DA5C-1286-88CB-640E1451E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563" y="2192640"/>
            <a:ext cx="53412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Safe digital storage of patient history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Accessible anytime, anywhere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Shareable with doctors securely</a:t>
            </a:r>
          </a:p>
        </p:txBody>
      </p:sp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7ED8EBE6-9C4C-87E3-F29B-B61CCC4C5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895" y="3675893"/>
            <a:ext cx="3149259" cy="44225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BF273099-A0D6-0D16-2B2C-442555483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13"/>
          <a:stretch>
            <a:fillRect/>
          </a:stretch>
        </p:blipFill>
        <p:spPr>
          <a:xfrm>
            <a:off x="2104852" y="3723734"/>
            <a:ext cx="2960913" cy="44225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6E07E2-2678-1E00-2E50-72B1957DB36E}"/>
              </a:ext>
            </a:extLst>
          </p:cNvPr>
          <p:cNvCxnSpPr>
            <a:cxnSpLocks/>
          </p:cNvCxnSpPr>
          <p:nvPr/>
        </p:nvCxnSpPr>
        <p:spPr>
          <a:xfrm>
            <a:off x="7086600" y="1923293"/>
            <a:ext cx="0" cy="592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9530B7-9055-D4FE-E226-ECD5B063EEDE}"/>
              </a:ext>
            </a:extLst>
          </p:cNvPr>
          <p:cNvSpPr txBox="1"/>
          <p:nvPr/>
        </p:nvSpPr>
        <p:spPr>
          <a:xfrm>
            <a:off x="990363" y="689951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App Features</a:t>
            </a:r>
          </a:p>
        </p:txBody>
      </p:sp>
    </p:spTree>
    <p:extLst>
      <p:ext uri="{BB962C8B-B14F-4D97-AF65-F5344CB8AC3E}">
        <p14:creationId xmlns:p14="http://schemas.microsoft.com/office/powerpoint/2010/main" val="274220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2204" y="1284230"/>
            <a:ext cx="4944547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en-GB" sz="4400" b="1" dirty="0">
                <a:latin typeface="Arial Black" panose="020B0A04020102020204" pitchFamily="34" charset="0"/>
              </a:rPr>
              <a:t>Conclusion</a:t>
            </a:r>
            <a:endParaRPr lang="en-GB" sz="7200" dirty="0">
              <a:effectLst/>
              <a:latin typeface="Arial Black" panose="020B0A040201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25" y="2960778"/>
            <a:ext cx="3179400" cy="6634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670" y="3846628"/>
            <a:ext cx="5490616" cy="8713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sz="2400" dirty="0"/>
              <a:t>                 </a:t>
            </a:r>
            <a:r>
              <a:rPr lang="en-GB" sz="2400" dirty="0" err="1"/>
              <a:t>Healthconnect</a:t>
            </a:r>
            <a:r>
              <a:rPr lang="en-GB" sz="2400" dirty="0"/>
              <a:t> – </a:t>
            </a:r>
          </a:p>
          <a:p>
            <a:pPr>
              <a:lnSpc>
                <a:spcPts val="2850"/>
              </a:lnSpc>
            </a:pPr>
            <a:r>
              <a:rPr lang="en-GB" sz="2400" dirty="0"/>
              <a:t>     Accessible, Affordable, Reliable</a:t>
            </a:r>
            <a:endParaRPr lang="en-US" sz="2400" dirty="0">
              <a:solidFill>
                <a:srgbClr val="404155"/>
              </a:solidFill>
              <a:latin typeface="Athelas Regular" panose="02000503000000020003" charset="0"/>
              <a:ea typeface="Nobile" panose="02000503050000020004" pitchFamily="34" charset="-122"/>
              <a:cs typeface="Athelas Regular" panose="02000503000000020003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474" y="4008378"/>
            <a:ext cx="3070956" cy="6408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41248" y="4975078"/>
            <a:ext cx="4162682" cy="118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GB" sz="2400" dirty="0"/>
              <a:t>Built for rural India by understanding their need</a:t>
            </a:r>
            <a:endParaRPr lang="en-US" sz="2400" dirty="0">
              <a:solidFill>
                <a:srgbClr val="404155"/>
              </a:solidFill>
              <a:latin typeface="Athelas Regular" panose="02000503000000020003" charset="0"/>
              <a:ea typeface="Nobile" panose="02000503050000020004" pitchFamily="34" charset="-122"/>
              <a:cs typeface="Athelas Regular" panose="02000503000000020003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930" y="5111838"/>
            <a:ext cx="3062049" cy="6389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670" y="751601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Now, let's experience </a:t>
            </a:r>
            <a:r>
              <a:rPr lang="en-US" sz="1750" dirty="0">
                <a:solidFill>
                  <a:srgbClr val="4967E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HealthConnect</a:t>
            </a: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in action.</a:t>
            </a:r>
            <a:endParaRPr lang="en-US" sz="1750" dirty="0"/>
          </a:p>
        </p:txBody>
      </p:sp>
      <p:sp>
        <p:nvSpPr>
          <p:cNvPr id="13" name="Rectangles 12"/>
          <p:cNvSpPr/>
          <p:nvPr/>
        </p:nvSpPr>
        <p:spPr>
          <a:xfrm>
            <a:off x="12894945" y="7697470"/>
            <a:ext cx="1597660" cy="433705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6"/>
          <p:cNvSpPr/>
          <p:nvPr/>
        </p:nvSpPr>
        <p:spPr>
          <a:xfrm>
            <a:off x="9703930" y="6015056"/>
            <a:ext cx="5103348" cy="1235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ea typeface="Nobile" panose="02000503050000020004" pitchFamily="34" charset="-122"/>
                <a:cs typeface="Athelas Regular" panose="02000503000000020003" charset="0"/>
              </a:rPr>
              <a:t>Nationwide expansion through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ea typeface="Nobile" panose="02000503050000020004" pitchFamily="34" charset="-122"/>
                <a:cs typeface="Athelas Regular" panose="02000503000000020003" charset="0"/>
              </a:rPr>
              <a:t>NGO and Government partnerships</a:t>
            </a:r>
            <a:r>
              <a:rPr lang="en-US" sz="2000" dirty="0">
                <a:solidFill>
                  <a:srgbClr val="404155"/>
                </a:solidFill>
                <a:latin typeface="Athelas Regular" panose="02000503000000020003" charset="0"/>
                <a:ea typeface="Nobile" panose="02000503050000020004" pitchFamily="34" charset="-122"/>
                <a:cs typeface="Athelas Regular" panose="02000503000000020003" charset="0"/>
              </a:rPr>
              <a:t>.</a:t>
            </a: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65087E3D-30D4-B87F-F8CD-C0D27FB9D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0278" y="-594685"/>
            <a:ext cx="3352558" cy="33525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282</Words>
  <Application>Microsoft Office PowerPoint</Application>
  <PresentationFormat>Custom</PresentationFormat>
  <Paragraphs>65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thaharaszl@gmail.com</cp:lastModifiedBy>
  <cp:revision>5</cp:revision>
  <dcterms:created xsi:type="dcterms:W3CDTF">2025-08-21T10:03:23Z</dcterms:created>
  <dcterms:modified xsi:type="dcterms:W3CDTF">2025-08-21T18:47:46Z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3CDE77867CC754E754E5A668ACA00A5A_42</vt:lpwstr>
  </property>
  <property fmtid="{D5CDD505-2E9C-101B-9397-08002B2CF9AE}" pid="3" name="KSOProductBuildVer">
    <vt:lpwstr>1033-12.1.21937.21937</vt:lpwstr>
  </property>
</Properties>
</file>